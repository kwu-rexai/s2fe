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64" r:id="rId2"/>
    <p:sldId id="268" r:id="rId3"/>
    <p:sldId id="270" r:id="rId4"/>
    <p:sldId id="271" r:id="rId5"/>
    <p:sldId id="272" r:id="rId6"/>
    <p:sldId id="273" r:id="rId7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19" userDrawn="1">
          <p15:clr>
            <a:srgbClr val="A4A3A4"/>
          </p15:clr>
        </p15:guide>
        <p15:guide id="3" orient="horz" pos="4248" userDrawn="1">
          <p15:clr>
            <a:srgbClr val="A4A3A4"/>
          </p15:clr>
        </p15:guide>
        <p15:guide id="4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32" autoAdjust="0"/>
    <p:restoredTop sz="94660"/>
  </p:normalViewPr>
  <p:slideViewPr>
    <p:cSldViewPr snapToGrid="0">
      <p:cViewPr>
        <p:scale>
          <a:sx n="200" d="100"/>
          <a:sy n="200" d="100"/>
        </p:scale>
        <p:origin x="2268" y="-3588"/>
      </p:cViewPr>
      <p:guideLst>
        <p:guide orient="horz" pos="2819"/>
        <p:guide orient="horz" pos="4248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3124A-D1EA-4522-8A67-B37EBB18C8E8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67886-2324-4285-86BC-7C28DF54B7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20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67886-2324-4285-86BC-7C28DF54B7B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052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4512-8659-8B67-9305-6BE35C156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E90186-603F-6510-3D7D-7E3646096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A1D44E-9FD1-A773-0EFB-29DA4A04F9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F0A1D5-D630-1EE5-4093-1B8B4576A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67886-2324-4285-86BC-7C28DF54B7B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45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65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706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170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20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63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190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18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632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881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84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50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390AF-311D-4CBA-937D-27DAB1834EB6}" type="datetimeFigureOut">
              <a:rPr lang="ko-KR" altLang="en-US" smtClean="0"/>
              <a:t>2025-07-19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374032-2EFD-4DEB-9757-B43459495D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691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45E47-00B5-9E82-C655-DD041E4A9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2343F968-E87D-02FE-A74E-F3804A652F4C}"/>
              </a:ext>
            </a:extLst>
          </p:cNvPr>
          <p:cNvGrpSpPr/>
          <p:nvPr/>
        </p:nvGrpSpPr>
        <p:grpSpPr>
          <a:xfrm>
            <a:off x="1303233" y="1156313"/>
            <a:ext cx="4251534" cy="719539"/>
            <a:chOff x="1303233" y="1156313"/>
            <a:chExt cx="4251534" cy="719539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4E7331BE-8B1C-AEF6-70E1-B42B37BB0114}"/>
                </a:ext>
              </a:extLst>
            </p:cNvPr>
            <p:cNvSpPr/>
            <p:nvPr/>
          </p:nvSpPr>
          <p:spPr>
            <a:xfrm>
              <a:off x="1303234" y="1156313"/>
              <a:ext cx="4251533" cy="71953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AD7D309-FC2B-3D90-5DBF-A9B3F59B8601}"/>
                </a:ext>
              </a:extLst>
            </p:cNvPr>
            <p:cNvSpPr>
              <a:spLocks/>
            </p:cNvSpPr>
            <p:nvPr/>
          </p:nvSpPr>
          <p:spPr>
            <a:xfrm>
              <a:off x="1867635" y="1465991"/>
              <a:ext cx="896400" cy="2628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재무제표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A04CFCC-17DA-6CBB-CC7C-2D20324216B5}"/>
                </a:ext>
              </a:extLst>
            </p:cNvPr>
            <p:cNvSpPr>
              <a:spLocks/>
            </p:cNvSpPr>
            <p:nvPr/>
          </p:nvSpPr>
          <p:spPr>
            <a:xfrm>
              <a:off x="2983280" y="1465991"/>
              <a:ext cx="896400" cy="2628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공시정보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0903C73-615C-1098-BF71-6347E9391CD0}"/>
                </a:ext>
              </a:extLst>
            </p:cNvPr>
            <p:cNvSpPr>
              <a:spLocks/>
            </p:cNvSpPr>
            <p:nvPr/>
          </p:nvSpPr>
          <p:spPr>
            <a:xfrm>
              <a:off x="4098926" y="1465991"/>
              <a:ext cx="894690" cy="2628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거시경제지표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64FE4E7-ACC0-4240-E9C3-1E6716C24E44}"/>
                </a:ext>
              </a:extLst>
            </p:cNvPr>
            <p:cNvSpPr txBox="1">
              <a:spLocks/>
            </p:cNvSpPr>
            <p:nvPr/>
          </p:nvSpPr>
          <p:spPr>
            <a:xfrm>
              <a:off x="1303233" y="1179526"/>
              <a:ext cx="425153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데이터셋 수집</a:t>
              </a:r>
            </a:p>
          </p:txBody>
        </p:sp>
      </p:grp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AB329EDE-ACAE-D5A6-CEA9-15B395CF49D1}"/>
              </a:ext>
            </a:extLst>
          </p:cNvPr>
          <p:cNvGrpSpPr/>
          <p:nvPr/>
        </p:nvGrpSpPr>
        <p:grpSpPr>
          <a:xfrm>
            <a:off x="1303233" y="8324300"/>
            <a:ext cx="4251534" cy="1205420"/>
            <a:chOff x="1305712" y="8020712"/>
            <a:chExt cx="4251534" cy="1205420"/>
          </a:xfrm>
        </p:grpSpPr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71CA6FA5-40C4-E585-47B4-134CB5BECA5C}"/>
                </a:ext>
              </a:extLst>
            </p:cNvPr>
            <p:cNvSpPr/>
            <p:nvPr/>
          </p:nvSpPr>
          <p:spPr>
            <a:xfrm>
              <a:off x="1305712" y="8020712"/>
              <a:ext cx="4251534" cy="12054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9B131440-2A85-9BC6-FD04-1861B1C88C97}"/>
                </a:ext>
              </a:extLst>
            </p:cNvPr>
            <p:cNvSpPr>
              <a:spLocks/>
            </p:cNvSpPr>
            <p:nvPr/>
          </p:nvSpPr>
          <p:spPr>
            <a:xfrm>
              <a:off x="1425065" y="8394312"/>
              <a:ext cx="4011441" cy="273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교집합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FD2FF6E9-8B60-6005-41D0-C72D7CBE418D}"/>
                </a:ext>
              </a:extLst>
            </p:cNvPr>
            <p:cNvSpPr>
              <a:spLocks/>
            </p:cNvSpPr>
            <p:nvPr/>
          </p:nvSpPr>
          <p:spPr>
            <a:xfrm>
              <a:off x="1425065" y="8823328"/>
              <a:ext cx="4011441" cy="273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종목 선택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91BD99C4-6995-07B6-DBEC-965CE3DF8E6D}"/>
                </a:ext>
              </a:extLst>
            </p:cNvPr>
            <p:cNvSpPr txBox="1">
              <a:spLocks/>
            </p:cNvSpPr>
            <p:nvPr/>
          </p:nvSpPr>
          <p:spPr>
            <a:xfrm>
              <a:off x="1305712" y="8068056"/>
              <a:ext cx="4251534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모델 예측 결합</a:t>
              </a:r>
            </a:p>
          </p:txBody>
        </p:sp>
      </p:grp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8867CD6D-0230-5BC1-4DF7-DC1FB6B56A99}"/>
              </a:ext>
            </a:extLst>
          </p:cNvPr>
          <p:cNvSpPr>
            <a:spLocks/>
          </p:cNvSpPr>
          <p:nvPr/>
        </p:nvSpPr>
        <p:spPr>
          <a:xfrm>
            <a:off x="1303233" y="9711277"/>
            <a:ext cx="4251534" cy="4290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종목 선택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5094221-8222-442E-1674-30337E66458A}"/>
              </a:ext>
            </a:extLst>
          </p:cNvPr>
          <p:cNvSpPr txBox="1">
            <a:spLocks/>
          </p:cNvSpPr>
          <p:nvPr/>
        </p:nvSpPr>
        <p:spPr>
          <a:xfrm>
            <a:off x="3616140" y="2091776"/>
            <a:ext cx="1807866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섹터 데이터 </a:t>
            </a:r>
            <a:r>
              <a:rPr lang="ko-KR" altLang="en-US" sz="1100" b="1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전처리</a:t>
            </a:r>
            <a:endParaRPr lang="ko-KR" altLang="en-US" sz="1100" b="1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E44CC6A-3348-CD7E-513B-3170DF48341F}"/>
              </a:ext>
            </a:extLst>
          </p:cNvPr>
          <p:cNvSpPr>
            <a:spLocks/>
          </p:cNvSpPr>
          <p:nvPr/>
        </p:nvSpPr>
        <p:spPr>
          <a:xfrm>
            <a:off x="3672774" y="2412301"/>
            <a:ext cx="1670400" cy="758991"/>
          </a:xfrm>
          <a:prstGeom prst="rect">
            <a:avLst/>
          </a:prstGeom>
          <a:solidFill>
            <a:srgbClr val="FEFCD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결측치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처리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2944491D-CF71-C6CC-F1E3-74838386F608}"/>
              </a:ext>
            </a:extLst>
          </p:cNvPr>
          <p:cNvSpPr>
            <a:spLocks/>
          </p:cNvSpPr>
          <p:nvPr/>
        </p:nvSpPr>
        <p:spPr>
          <a:xfrm>
            <a:off x="3672774" y="3375655"/>
            <a:ext cx="1670824" cy="758651"/>
          </a:xfrm>
          <a:prstGeom prst="rect">
            <a:avLst/>
          </a:prstGeom>
          <a:solidFill>
            <a:srgbClr val="FEFCD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변화율 적용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803CF2A2-F432-1DAA-2B13-01051B575824}"/>
              </a:ext>
            </a:extLst>
          </p:cNvPr>
          <p:cNvSpPr>
            <a:spLocks/>
          </p:cNvSpPr>
          <p:nvPr/>
        </p:nvSpPr>
        <p:spPr>
          <a:xfrm>
            <a:off x="3672774" y="5296133"/>
            <a:ext cx="1670824" cy="758991"/>
          </a:xfrm>
          <a:prstGeom prst="rect">
            <a:avLst/>
          </a:prstGeom>
          <a:solidFill>
            <a:srgbClr val="FEFCD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차원 축소 및</a:t>
            </a:r>
            <a:r>
              <a:rPr lang="en-US" altLang="ko-KR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특징 </a:t>
            </a:r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선택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596B557-79A6-66C8-64F4-659A78D91D43}"/>
              </a:ext>
            </a:extLst>
          </p:cNvPr>
          <p:cNvSpPr/>
          <p:nvPr/>
        </p:nvSpPr>
        <p:spPr>
          <a:xfrm>
            <a:off x="3483274" y="2060415"/>
            <a:ext cx="2073600" cy="408269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FAE043-0819-48CE-3B2B-758CC08E2B66}"/>
              </a:ext>
            </a:extLst>
          </p:cNvPr>
          <p:cNvSpPr>
            <a:spLocks/>
          </p:cNvSpPr>
          <p:nvPr/>
        </p:nvSpPr>
        <p:spPr>
          <a:xfrm>
            <a:off x="3676505" y="4333118"/>
            <a:ext cx="1670824" cy="758652"/>
          </a:xfrm>
          <a:prstGeom prst="rect">
            <a:avLst/>
          </a:prstGeom>
          <a:solidFill>
            <a:srgbClr val="FEFCD6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시장 초과 수익률 추가</a:t>
            </a:r>
            <a:endParaRPr lang="en-US" altLang="ko-KR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02C1F169-DD90-2228-4E8F-4D5E0AC0D74E}"/>
              </a:ext>
            </a:extLst>
          </p:cNvPr>
          <p:cNvSpPr/>
          <p:nvPr/>
        </p:nvSpPr>
        <p:spPr>
          <a:xfrm>
            <a:off x="1303233" y="3920514"/>
            <a:ext cx="2074721" cy="35505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응집형 계층적 클러스터링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C1638F5-0890-01BA-1FE8-5965350A7AAC}"/>
              </a:ext>
            </a:extLst>
          </p:cNvPr>
          <p:cNvGrpSpPr/>
          <p:nvPr/>
        </p:nvGrpSpPr>
        <p:grpSpPr>
          <a:xfrm>
            <a:off x="1303232" y="2057408"/>
            <a:ext cx="2074720" cy="1709703"/>
            <a:chOff x="1364602" y="2066027"/>
            <a:chExt cx="1872792" cy="1709703"/>
          </a:xfrm>
        </p:grpSpPr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A097888D-6728-A39A-DBB5-98137BA54B30}"/>
                </a:ext>
              </a:extLst>
            </p:cNvPr>
            <p:cNvSpPr txBox="1">
              <a:spLocks/>
            </p:cNvSpPr>
            <p:nvPr/>
          </p:nvSpPr>
          <p:spPr>
            <a:xfrm>
              <a:off x="1414407" y="2106709"/>
              <a:ext cx="1784210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개별 섹터 데이터 </a:t>
              </a:r>
              <a:r>
                <a:rPr lang="ko-KR" altLang="en-US" sz="1100" b="1" dirty="0" err="1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전처리</a:t>
              </a:r>
              <a:endParaRPr lang="ko-KR" altLang="en-US" sz="11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53909422-69EB-6D58-479D-42995497A48E}"/>
                </a:ext>
              </a:extLst>
            </p:cNvPr>
            <p:cNvSpPr>
              <a:spLocks/>
            </p:cNvSpPr>
            <p:nvPr/>
          </p:nvSpPr>
          <p:spPr>
            <a:xfrm>
              <a:off x="1472340" y="2405727"/>
              <a:ext cx="1670400" cy="273919"/>
            </a:xfrm>
            <a:prstGeom prst="rect">
              <a:avLst/>
            </a:prstGeom>
            <a:solidFill>
              <a:srgbClr val="FEFCD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결측치</a:t>
              </a:r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처리</a:t>
              </a: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7C717C33-6EFD-FA78-9A82-1114675E9B6B}"/>
                </a:ext>
              </a:extLst>
            </p:cNvPr>
            <p:cNvSpPr>
              <a:spLocks/>
            </p:cNvSpPr>
            <p:nvPr/>
          </p:nvSpPr>
          <p:spPr>
            <a:xfrm>
              <a:off x="1472340" y="2745259"/>
              <a:ext cx="1670400" cy="273919"/>
            </a:xfrm>
            <a:prstGeom prst="rect">
              <a:avLst/>
            </a:prstGeom>
            <a:solidFill>
              <a:srgbClr val="FEFCD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변화율 적용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4C19BD11-0AAF-737F-7C97-103098D8E049}"/>
                </a:ext>
              </a:extLst>
            </p:cNvPr>
            <p:cNvSpPr>
              <a:spLocks/>
            </p:cNvSpPr>
            <p:nvPr/>
          </p:nvSpPr>
          <p:spPr>
            <a:xfrm>
              <a:off x="1472340" y="3423462"/>
              <a:ext cx="1670400" cy="273600"/>
            </a:xfrm>
            <a:prstGeom prst="rect">
              <a:avLst/>
            </a:prstGeom>
            <a:solidFill>
              <a:srgbClr val="FEFCD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차원 축소 및</a:t>
              </a:r>
              <a:r>
                <a:rPr lang="en-US" altLang="ko-KR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특징 선택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980730C2-A33D-E6B3-9A21-BDCD1048756E}"/>
                </a:ext>
              </a:extLst>
            </p:cNvPr>
            <p:cNvSpPr/>
            <p:nvPr/>
          </p:nvSpPr>
          <p:spPr>
            <a:xfrm>
              <a:off x="1364602" y="2066027"/>
              <a:ext cx="1872792" cy="170970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17F23370-987C-B38D-4E38-C7C1701A8892}"/>
                </a:ext>
              </a:extLst>
            </p:cNvPr>
            <p:cNvSpPr>
              <a:spLocks/>
            </p:cNvSpPr>
            <p:nvPr/>
          </p:nvSpPr>
          <p:spPr>
            <a:xfrm>
              <a:off x="1472340" y="3084525"/>
              <a:ext cx="1670400" cy="273590"/>
            </a:xfrm>
            <a:prstGeom prst="rect">
              <a:avLst/>
            </a:prstGeom>
            <a:solidFill>
              <a:srgbClr val="FEFCD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시장 초과 수익률 추가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BE63D50-179B-E606-9077-9BACC65F971F}"/>
              </a:ext>
            </a:extLst>
          </p:cNvPr>
          <p:cNvGrpSpPr/>
          <p:nvPr/>
        </p:nvGrpSpPr>
        <p:grpSpPr>
          <a:xfrm>
            <a:off x="1303233" y="4428968"/>
            <a:ext cx="2082048" cy="1709703"/>
            <a:chOff x="1352401" y="4437587"/>
            <a:chExt cx="1889429" cy="1709703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D4C8837-941D-AF15-BA3C-86ECA5D071A4}"/>
                </a:ext>
              </a:extLst>
            </p:cNvPr>
            <p:cNvSpPr txBox="1">
              <a:spLocks/>
            </p:cNvSpPr>
            <p:nvPr/>
          </p:nvSpPr>
          <p:spPr>
            <a:xfrm>
              <a:off x="1356837" y="4484931"/>
              <a:ext cx="18849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섹터 클러스터 데이터 </a:t>
              </a:r>
              <a:r>
                <a:rPr lang="ko-KR" altLang="en-US" sz="1100" b="1" dirty="0" err="1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전처리</a:t>
              </a:r>
              <a:endParaRPr lang="ko-KR" altLang="en-US" sz="1100" b="1" dirty="0"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ABD75A2A-7330-4947-410B-5559D4873459}"/>
                </a:ext>
              </a:extLst>
            </p:cNvPr>
            <p:cNvSpPr>
              <a:spLocks/>
            </p:cNvSpPr>
            <p:nvPr/>
          </p:nvSpPr>
          <p:spPr>
            <a:xfrm>
              <a:off x="1460712" y="4777287"/>
              <a:ext cx="1670400" cy="273919"/>
            </a:xfrm>
            <a:prstGeom prst="rect">
              <a:avLst/>
            </a:prstGeom>
            <a:solidFill>
              <a:srgbClr val="FEFCD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 err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결측치</a:t>
              </a:r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처리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B85A848-DE93-23EC-5D70-28ACE6A503F8}"/>
                </a:ext>
              </a:extLst>
            </p:cNvPr>
            <p:cNvSpPr>
              <a:spLocks/>
            </p:cNvSpPr>
            <p:nvPr/>
          </p:nvSpPr>
          <p:spPr>
            <a:xfrm>
              <a:off x="1460712" y="5116819"/>
              <a:ext cx="1670400" cy="273919"/>
            </a:xfrm>
            <a:prstGeom prst="rect">
              <a:avLst/>
            </a:prstGeom>
            <a:solidFill>
              <a:srgbClr val="FEFCD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변화율 적용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33CD9C6-D78F-6122-8C36-806D2EAF22BD}"/>
                </a:ext>
              </a:extLst>
            </p:cNvPr>
            <p:cNvSpPr>
              <a:spLocks/>
            </p:cNvSpPr>
            <p:nvPr/>
          </p:nvSpPr>
          <p:spPr>
            <a:xfrm>
              <a:off x="1460712" y="5795022"/>
              <a:ext cx="1670400" cy="273600"/>
            </a:xfrm>
            <a:prstGeom prst="rect">
              <a:avLst/>
            </a:prstGeom>
            <a:solidFill>
              <a:srgbClr val="FEFCD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차원 축소 및</a:t>
              </a:r>
              <a:r>
                <a:rPr lang="en-US" altLang="ko-KR" sz="900" b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900" b="1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특징 </a:t>
              </a:r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선택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3B64122-D865-014C-88AE-FFB04C966CC5}"/>
                </a:ext>
              </a:extLst>
            </p:cNvPr>
            <p:cNvSpPr/>
            <p:nvPr/>
          </p:nvSpPr>
          <p:spPr>
            <a:xfrm>
              <a:off x="1352401" y="4437587"/>
              <a:ext cx="1884993" cy="1709703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dirty="0"/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6FFBECC-D801-C57F-6E30-2E658EF6D00C}"/>
                </a:ext>
              </a:extLst>
            </p:cNvPr>
            <p:cNvSpPr>
              <a:spLocks/>
            </p:cNvSpPr>
            <p:nvPr/>
          </p:nvSpPr>
          <p:spPr>
            <a:xfrm>
              <a:off x="1460712" y="5456085"/>
              <a:ext cx="1670400" cy="273590"/>
            </a:xfrm>
            <a:prstGeom prst="rect">
              <a:avLst/>
            </a:prstGeom>
            <a:solidFill>
              <a:srgbClr val="FEFCD6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시장 초과 수익률 추가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43210C7A-077B-281B-D5BC-F4957FF6E17E}"/>
              </a:ext>
            </a:extLst>
          </p:cNvPr>
          <p:cNvGrpSpPr/>
          <p:nvPr/>
        </p:nvGrpSpPr>
        <p:grpSpPr>
          <a:xfrm>
            <a:off x="1303234" y="6324667"/>
            <a:ext cx="4251531" cy="1818077"/>
            <a:chOff x="1303234" y="6264084"/>
            <a:chExt cx="4251531" cy="1818077"/>
          </a:xfrm>
        </p:grpSpPr>
        <p:grpSp>
          <p:nvGrpSpPr>
            <p:cNvPr id="240" name="그룹 239">
              <a:extLst>
                <a:ext uri="{FF2B5EF4-FFF2-40B4-BE49-F238E27FC236}">
                  <a16:creationId xmlns:a16="http://schemas.microsoft.com/office/drawing/2014/main" id="{13F699D3-4376-7E22-96B5-4E79FC7817B8}"/>
                </a:ext>
              </a:extLst>
            </p:cNvPr>
            <p:cNvGrpSpPr/>
            <p:nvPr/>
          </p:nvGrpSpPr>
          <p:grpSpPr>
            <a:xfrm>
              <a:off x="1381968" y="6592268"/>
              <a:ext cx="4103532" cy="1377975"/>
              <a:chOff x="1384446" y="6371783"/>
              <a:chExt cx="4103532" cy="1377975"/>
            </a:xfrm>
          </p:grpSpPr>
          <p:grpSp>
            <p:nvGrpSpPr>
              <p:cNvPr id="221" name="그룹 220">
                <a:extLst>
                  <a:ext uri="{FF2B5EF4-FFF2-40B4-BE49-F238E27FC236}">
                    <a16:creationId xmlns:a16="http://schemas.microsoft.com/office/drawing/2014/main" id="{DC2CCCEC-D68F-0EAF-3CF6-93C9B21DC9C8}"/>
                  </a:ext>
                </a:extLst>
              </p:cNvPr>
              <p:cNvGrpSpPr/>
              <p:nvPr/>
            </p:nvGrpSpPr>
            <p:grpSpPr>
              <a:xfrm>
                <a:off x="1384446" y="6371783"/>
                <a:ext cx="2062714" cy="1377975"/>
                <a:chOff x="1384446" y="6371783"/>
                <a:chExt cx="2062714" cy="1377975"/>
              </a:xfrm>
            </p:grpSpPr>
            <p:grpSp>
              <p:nvGrpSpPr>
                <p:cNvPr id="208" name="그룹 207">
                  <a:extLst>
                    <a:ext uri="{FF2B5EF4-FFF2-40B4-BE49-F238E27FC236}">
                      <a16:creationId xmlns:a16="http://schemas.microsoft.com/office/drawing/2014/main" id="{C77083B1-F04F-4A5B-9CFD-B7C3A7D655BA}"/>
                    </a:ext>
                  </a:extLst>
                </p:cNvPr>
                <p:cNvGrpSpPr/>
                <p:nvPr/>
              </p:nvGrpSpPr>
              <p:grpSpPr>
                <a:xfrm>
                  <a:off x="1424205" y="6371783"/>
                  <a:ext cx="2022955" cy="1377975"/>
                  <a:chOff x="1421726" y="6229326"/>
                  <a:chExt cx="2022955" cy="1377975"/>
                </a:xfrm>
              </p:grpSpPr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C612B5A0-1C57-E0D8-BE98-E835444E8853}"/>
                      </a:ext>
                    </a:extLst>
                  </p:cNvPr>
                  <p:cNvSpPr/>
                  <p:nvPr/>
                </p:nvSpPr>
                <p:spPr>
                  <a:xfrm>
                    <a:off x="1612281" y="6229326"/>
                    <a:ext cx="1832400" cy="124034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900"/>
                  </a:p>
                </p:txBody>
              </p:sp>
              <p:sp>
                <p:nvSpPr>
                  <p:cNvPr id="206" name="직사각형 205">
                    <a:extLst>
                      <a:ext uri="{FF2B5EF4-FFF2-40B4-BE49-F238E27FC236}">
                        <a16:creationId xmlns:a16="http://schemas.microsoft.com/office/drawing/2014/main" id="{DC1333FD-0034-0BC0-E23C-AE695283BC77}"/>
                      </a:ext>
                    </a:extLst>
                  </p:cNvPr>
                  <p:cNvSpPr/>
                  <p:nvPr/>
                </p:nvSpPr>
                <p:spPr>
                  <a:xfrm>
                    <a:off x="1566983" y="6259773"/>
                    <a:ext cx="1832400" cy="124034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900" dirty="0"/>
                  </a:p>
                </p:txBody>
              </p:sp>
              <p:sp>
                <p:nvSpPr>
                  <p:cNvPr id="205" name="직사각형 204">
                    <a:extLst>
                      <a:ext uri="{FF2B5EF4-FFF2-40B4-BE49-F238E27FC236}">
                        <a16:creationId xmlns:a16="http://schemas.microsoft.com/office/drawing/2014/main" id="{BFDC79A7-E58F-5564-9E05-9234DD14992C}"/>
                      </a:ext>
                    </a:extLst>
                  </p:cNvPr>
                  <p:cNvSpPr/>
                  <p:nvPr/>
                </p:nvSpPr>
                <p:spPr>
                  <a:xfrm>
                    <a:off x="1517462" y="6293633"/>
                    <a:ext cx="1832400" cy="124034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900" dirty="0"/>
                  </a:p>
                </p:txBody>
              </p:sp>
              <p:sp>
                <p:nvSpPr>
                  <p:cNvPr id="204" name="직사각형 203">
                    <a:extLst>
                      <a:ext uri="{FF2B5EF4-FFF2-40B4-BE49-F238E27FC236}">
                        <a16:creationId xmlns:a16="http://schemas.microsoft.com/office/drawing/2014/main" id="{9F6A26D6-18B2-4F48-6BD6-36152F211177}"/>
                      </a:ext>
                    </a:extLst>
                  </p:cNvPr>
                  <p:cNvSpPr/>
                  <p:nvPr/>
                </p:nvSpPr>
                <p:spPr>
                  <a:xfrm>
                    <a:off x="1469594" y="6330294"/>
                    <a:ext cx="1832400" cy="124034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900" dirty="0"/>
                  </a:p>
                </p:txBody>
              </p:sp>
              <p:sp>
                <p:nvSpPr>
                  <p:cNvPr id="185" name="직사각형 184">
                    <a:extLst>
                      <a:ext uri="{FF2B5EF4-FFF2-40B4-BE49-F238E27FC236}">
                        <a16:creationId xmlns:a16="http://schemas.microsoft.com/office/drawing/2014/main" id="{852F311A-BC18-B8AF-C871-35E4D0C3C02E}"/>
                      </a:ext>
                    </a:extLst>
                  </p:cNvPr>
                  <p:cNvSpPr/>
                  <p:nvPr/>
                </p:nvSpPr>
                <p:spPr>
                  <a:xfrm>
                    <a:off x="1421726" y="6366955"/>
                    <a:ext cx="1832400" cy="1240346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900" dirty="0"/>
                  </a:p>
                </p:txBody>
              </p:sp>
            </p:grpSp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F4417C4C-9FDA-ED69-D10C-853A895A45D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84446" y="6547086"/>
                  <a:ext cx="1929467" cy="25391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050" b="1" dirty="0">
                      <a:latin typeface="나눔고딕 ExtraBold" panose="020D0904000000000000" pitchFamily="50" charset="-127"/>
                      <a:ea typeface="나눔고딕 ExtraBold" panose="020D0904000000000000" pitchFamily="50" charset="-127"/>
                    </a:rPr>
                    <a:t>섹터 클러스터 예측 모델</a:t>
                  </a:r>
                </a:p>
              </p:txBody>
            </p:sp>
            <p:sp>
              <p:nvSpPr>
                <p:cNvPr id="182" name="직사각형 181">
                  <a:extLst>
                    <a:ext uri="{FF2B5EF4-FFF2-40B4-BE49-F238E27FC236}">
                      <a16:creationId xmlns:a16="http://schemas.microsoft.com/office/drawing/2014/main" id="{F5D57DE4-2923-3D3D-F328-599D4C8E4E4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98867" y="6865483"/>
                  <a:ext cx="468000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MLP</a:t>
                  </a:r>
                </a:p>
              </p:txBody>
            </p:sp>
            <p:sp>
              <p:nvSpPr>
                <p:cNvPr id="183" name="직사각형 182">
                  <a:extLst>
                    <a:ext uri="{FF2B5EF4-FFF2-40B4-BE49-F238E27FC236}">
                      <a16:creationId xmlns:a16="http://schemas.microsoft.com/office/drawing/2014/main" id="{7D501B9F-A9A6-E078-3C95-8D95C2E483A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20241" y="6865483"/>
                  <a:ext cx="468000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b="1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RF</a:t>
                  </a:r>
                  <a:endParaRPr lang="en-US" altLang="ko-KR" sz="80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84" name="직사각형 183">
                  <a:extLst>
                    <a:ext uri="{FF2B5EF4-FFF2-40B4-BE49-F238E27FC236}">
                      <a16:creationId xmlns:a16="http://schemas.microsoft.com/office/drawing/2014/main" id="{3F727123-D8C5-1504-0323-B72A75E80FE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95717" y="7399457"/>
                  <a:ext cx="1689374" cy="2736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b="1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앙상블</a:t>
                  </a:r>
                  <a:endParaRPr lang="en-US" altLang="ko-KR" sz="90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86" name="직사각형 185">
                  <a:extLst>
                    <a:ext uri="{FF2B5EF4-FFF2-40B4-BE49-F238E27FC236}">
                      <a16:creationId xmlns:a16="http://schemas.microsoft.com/office/drawing/2014/main" id="{CC2DF467-11CC-3349-4D84-A1E6477C403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109554" y="6865483"/>
                  <a:ext cx="468000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b="1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ANFIS</a:t>
                  </a:r>
                  <a:endParaRPr lang="en-US" altLang="ko-KR" sz="80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88727511-2256-F493-AF84-0F0A4A21475F}"/>
                  </a:ext>
                </a:extLst>
              </p:cNvPr>
              <p:cNvGrpSpPr/>
              <p:nvPr/>
            </p:nvGrpSpPr>
            <p:grpSpPr>
              <a:xfrm>
                <a:off x="3558511" y="6509412"/>
                <a:ext cx="1929467" cy="1240346"/>
                <a:chOff x="3558511" y="6509412"/>
                <a:chExt cx="1929467" cy="1240346"/>
              </a:xfrm>
            </p:grpSpPr>
            <p:sp>
              <p:nvSpPr>
                <p:cNvPr id="197" name="직사각형 196">
                  <a:extLst>
                    <a:ext uri="{FF2B5EF4-FFF2-40B4-BE49-F238E27FC236}">
                      <a16:creationId xmlns:a16="http://schemas.microsoft.com/office/drawing/2014/main" id="{ED1621F7-18A3-1AF9-AF02-34DF2AA4C65C}"/>
                    </a:ext>
                  </a:extLst>
                </p:cNvPr>
                <p:cNvSpPr/>
                <p:nvPr/>
              </p:nvSpPr>
              <p:spPr>
                <a:xfrm>
                  <a:off x="3605686" y="6509412"/>
                  <a:ext cx="1833731" cy="124034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900"/>
                </a:p>
              </p:txBody>
            </p:sp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221CD24F-74F8-EC83-9DF0-005EB38758A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558511" y="6547086"/>
                  <a:ext cx="1929467" cy="2616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100" b="1" dirty="0">
                      <a:latin typeface="나눔고딕 ExtraBold" panose="020D0904000000000000" pitchFamily="50" charset="-127"/>
                      <a:ea typeface="나눔고딕 ExtraBold" panose="020D0904000000000000" pitchFamily="50" charset="-127"/>
                    </a:rPr>
                    <a:t>전체 종목 예측 모델</a:t>
                  </a:r>
                </a:p>
              </p:txBody>
            </p:sp>
            <p:sp>
              <p:nvSpPr>
                <p:cNvPr id="194" name="직사각형 193">
                  <a:extLst>
                    <a:ext uri="{FF2B5EF4-FFF2-40B4-BE49-F238E27FC236}">
                      <a16:creationId xmlns:a16="http://schemas.microsoft.com/office/drawing/2014/main" id="{B95689AF-AC72-9D5B-3AFE-322F5376AB4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677865" y="6865483"/>
                  <a:ext cx="468000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b="1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MLP</a:t>
                  </a:r>
                </a:p>
              </p:txBody>
            </p:sp>
            <p:sp>
              <p:nvSpPr>
                <p:cNvPr id="195" name="직사각형 194">
                  <a:extLst>
                    <a:ext uri="{FF2B5EF4-FFF2-40B4-BE49-F238E27FC236}">
                      <a16:creationId xmlns:a16="http://schemas.microsoft.com/office/drawing/2014/main" id="{85E380F6-ACE4-8F6B-42FA-078EDD1D5CB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899239" y="6865483"/>
                  <a:ext cx="468000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b="1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RF</a:t>
                  </a:r>
                  <a:endParaRPr lang="en-US" altLang="ko-KR" sz="80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96" name="직사각형 195">
                  <a:extLst>
                    <a:ext uri="{FF2B5EF4-FFF2-40B4-BE49-F238E27FC236}">
                      <a16:creationId xmlns:a16="http://schemas.microsoft.com/office/drawing/2014/main" id="{E4F51699-5074-7A7F-B536-0204AED4A27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677865" y="7397237"/>
                  <a:ext cx="1689374" cy="2736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b="1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앙상블</a:t>
                  </a:r>
                  <a:endParaRPr lang="en-US" altLang="ko-KR" sz="90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98" name="직사각형 197">
                  <a:extLst>
                    <a:ext uri="{FF2B5EF4-FFF2-40B4-BE49-F238E27FC236}">
                      <a16:creationId xmlns:a16="http://schemas.microsoft.com/office/drawing/2014/main" id="{7F1B71C4-77E3-0A67-0756-3BF47D35D7B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288552" y="6865483"/>
                  <a:ext cx="468000" cy="252000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b="1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ANFIS</a:t>
                  </a:r>
                  <a:endParaRPr lang="en-US" altLang="ko-KR" sz="800" b="1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2DA6C64-2302-9852-FC0A-A7F8D2D91B85}"/>
                </a:ext>
              </a:extLst>
            </p:cNvPr>
            <p:cNvSpPr/>
            <p:nvPr/>
          </p:nvSpPr>
          <p:spPr>
            <a:xfrm>
              <a:off x="1303234" y="6264084"/>
              <a:ext cx="4251531" cy="18180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1CCF9471-8ECA-9F5C-E867-F172BC8E741F}"/>
                </a:ext>
              </a:extLst>
            </p:cNvPr>
            <p:cNvCxnSpPr>
              <a:cxnSpLocks/>
              <a:stCxn id="198" idx="2"/>
              <a:endCxn id="196" idx="0"/>
            </p:cNvCxnSpPr>
            <p:nvPr/>
          </p:nvCxnSpPr>
          <p:spPr>
            <a:xfrm>
              <a:off x="4520074" y="7337968"/>
              <a:ext cx="0" cy="27975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3D3E698F-8E1B-D46A-09BD-3EB8DFF62B1F}"/>
                </a:ext>
              </a:extLst>
            </p:cNvPr>
            <p:cNvCxnSpPr>
              <a:cxnSpLocks/>
              <a:stCxn id="195" idx="2"/>
              <a:endCxn id="196" idx="0"/>
            </p:cNvCxnSpPr>
            <p:nvPr/>
          </p:nvCxnSpPr>
          <p:spPr>
            <a:xfrm rot="5400000">
              <a:off x="4685541" y="7172502"/>
              <a:ext cx="279754" cy="61068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연결선: 꺾임 63">
              <a:extLst>
                <a:ext uri="{FF2B5EF4-FFF2-40B4-BE49-F238E27FC236}">
                  <a16:creationId xmlns:a16="http://schemas.microsoft.com/office/drawing/2014/main" id="{ED291EAF-4A34-A839-BE82-4C88C719C084}"/>
                </a:ext>
              </a:extLst>
            </p:cNvPr>
            <p:cNvCxnSpPr>
              <a:cxnSpLocks/>
              <a:stCxn id="194" idx="2"/>
              <a:endCxn id="196" idx="0"/>
            </p:cNvCxnSpPr>
            <p:nvPr/>
          </p:nvCxnSpPr>
          <p:spPr>
            <a:xfrm rot="16200000" flipH="1">
              <a:off x="4074853" y="7172501"/>
              <a:ext cx="279754" cy="61068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56C31FE1-C611-03D9-F178-D034A9B253A1}"/>
                </a:ext>
              </a:extLst>
            </p:cNvPr>
            <p:cNvCxnSpPr>
              <a:cxnSpLocks/>
              <a:stCxn id="186" idx="2"/>
              <a:endCxn id="184" idx="0"/>
            </p:cNvCxnSpPr>
            <p:nvPr/>
          </p:nvCxnSpPr>
          <p:spPr>
            <a:xfrm flipH="1">
              <a:off x="2337926" y="7337968"/>
              <a:ext cx="3150" cy="2819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연결선: 꺾임 67">
              <a:extLst>
                <a:ext uri="{FF2B5EF4-FFF2-40B4-BE49-F238E27FC236}">
                  <a16:creationId xmlns:a16="http://schemas.microsoft.com/office/drawing/2014/main" id="{A461BBE0-9ED2-E0D2-0E70-4D73606B4EC9}"/>
                </a:ext>
              </a:extLst>
            </p:cNvPr>
            <p:cNvCxnSpPr>
              <a:cxnSpLocks/>
              <a:stCxn id="183" idx="2"/>
              <a:endCxn id="184" idx="0"/>
            </p:cNvCxnSpPr>
            <p:nvPr/>
          </p:nvCxnSpPr>
          <p:spPr>
            <a:xfrm rot="5400000">
              <a:off x="2503858" y="7172037"/>
              <a:ext cx="281974" cy="61383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연결선: 꺾임 68">
              <a:extLst>
                <a:ext uri="{FF2B5EF4-FFF2-40B4-BE49-F238E27FC236}">
                  <a16:creationId xmlns:a16="http://schemas.microsoft.com/office/drawing/2014/main" id="{B800BCE5-7EE5-D614-8B85-EA3C917B84ED}"/>
                </a:ext>
              </a:extLst>
            </p:cNvPr>
            <p:cNvCxnSpPr>
              <a:cxnSpLocks/>
              <a:stCxn id="182" idx="2"/>
              <a:endCxn id="184" idx="0"/>
            </p:cNvCxnSpPr>
            <p:nvPr/>
          </p:nvCxnSpPr>
          <p:spPr>
            <a:xfrm rot="16200000" flipH="1">
              <a:off x="1893170" y="7175186"/>
              <a:ext cx="281974" cy="60753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1868EB6-EFA5-1869-ACD2-2D23166B5150}"/>
                </a:ext>
              </a:extLst>
            </p:cNvPr>
            <p:cNvSpPr txBox="1">
              <a:spLocks/>
            </p:cNvSpPr>
            <p:nvPr/>
          </p:nvSpPr>
          <p:spPr>
            <a:xfrm>
              <a:off x="2384651" y="6316964"/>
              <a:ext cx="2077160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예측 모델링</a:t>
              </a:r>
            </a:p>
          </p:txBody>
        </p:sp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F465CC1-97E8-0E95-50EC-6D9CEFF5C9CD}"/>
              </a:ext>
            </a:extLst>
          </p:cNvPr>
          <p:cNvCxnSpPr>
            <a:endCxn id="143" idx="0"/>
          </p:cNvCxnSpPr>
          <p:nvPr/>
        </p:nvCxnSpPr>
        <p:spPr>
          <a:xfrm>
            <a:off x="2337926" y="1875852"/>
            <a:ext cx="2666" cy="1815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4C96527-F39E-55E9-973E-41F7BF8FD5EA}"/>
              </a:ext>
            </a:extLst>
          </p:cNvPr>
          <p:cNvCxnSpPr>
            <a:endCxn id="135" idx="0"/>
          </p:cNvCxnSpPr>
          <p:nvPr/>
        </p:nvCxnSpPr>
        <p:spPr>
          <a:xfrm>
            <a:off x="4520073" y="1875852"/>
            <a:ext cx="1" cy="1845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6B0ED3D-B14D-8271-A8AD-AFF51617F654}"/>
              </a:ext>
            </a:extLst>
          </p:cNvPr>
          <p:cNvCxnSpPr>
            <a:stCxn id="143" idx="2"/>
            <a:endCxn id="144" idx="0"/>
          </p:cNvCxnSpPr>
          <p:nvPr/>
        </p:nvCxnSpPr>
        <p:spPr>
          <a:xfrm>
            <a:off x="2340592" y="3767111"/>
            <a:ext cx="2" cy="1534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E58ACB4-E14E-26CC-2341-704000A7C737}"/>
              </a:ext>
            </a:extLst>
          </p:cNvPr>
          <p:cNvCxnSpPr>
            <a:stCxn id="144" idx="2"/>
            <a:endCxn id="39" idx="0"/>
          </p:cNvCxnSpPr>
          <p:nvPr/>
        </p:nvCxnSpPr>
        <p:spPr>
          <a:xfrm>
            <a:off x="2340594" y="4275565"/>
            <a:ext cx="1219" cy="1534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78C51A6-8788-CF76-1B5E-738A3D9E0662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2341813" y="6138671"/>
            <a:ext cx="0" cy="514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733397F-D234-4ECB-FE4C-A4A4507CBC0A}"/>
              </a:ext>
            </a:extLst>
          </p:cNvPr>
          <p:cNvCxnSpPr>
            <a:cxnSpLocks/>
            <a:stCxn id="135" idx="2"/>
            <a:endCxn id="197" idx="0"/>
          </p:cNvCxnSpPr>
          <p:nvPr/>
        </p:nvCxnSpPr>
        <p:spPr>
          <a:xfrm>
            <a:off x="4520074" y="6143111"/>
            <a:ext cx="0" cy="6473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B02F21B3-3DE3-F7BE-47A5-0732616E4756}"/>
              </a:ext>
            </a:extLst>
          </p:cNvPr>
          <p:cNvCxnSpPr>
            <a:cxnSpLocks/>
            <a:stCxn id="185" idx="2"/>
          </p:cNvCxnSpPr>
          <p:nvPr/>
        </p:nvCxnSpPr>
        <p:spPr>
          <a:xfrm flipH="1">
            <a:off x="2337926" y="8030826"/>
            <a:ext cx="1" cy="2979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8378AFE-8F5B-EB07-FA95-63B8C7BD4802}"/>
              </a:ext>
            </a:extLst>
          </p:cNvPr>
          <p:cNvCxnSpPr>
            <a:cxnSpLocks/>
            <a:stCxn id="197" idx="2"/>
          </p:cNvCxnSpPr>
          <p:nvPr/>
        </p:nvCxnSpPr>
        <p:spPr>
          <a:xfrm>
            <a:off x="4520074" y="8030826"/>
            <a:ext cx="0" cy="2934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A74C2089-71FA-886D-B8E7-ADDBEC64AAAF}"/>
              </a:ext>
            </a:extLst>
          </p:cNvPr>
          <p:cNvCxnSpPr>
            <a:cxnSpLocks/>
            <a:stCxn id="199" idx="2"/>
            <a:endCxn id="243" idx="0"/>
          </p:cNvCxnSpPr>
          <p:nvPr/>
        </p:nvCxnSpPr>
        <p:spPr>
          <a:xfrm>
            <a:off x="3429000" y="9529720"/>
            <a:ext cx="0" cy="1815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EB55D64-9870-63C2-77F3-18F4D0FE2D8A}"/>
              </a:ext>
            </a:extLst>
          </p:cNvPr>
          <p:cNvSpPr txBox="1"/>
          <p:nvPr/>
        </p:nvSpPr>
        <p:spPr>
          <a:xfrm>
            <a:off x="167937" y="160520"/>
            <a:ext cx="124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그림 </a:t>
            </a:r>
            <a:r>
              <a:rPr lang="en-US" altLang="ko-KR" dirty="0">
                <a:latin typeface="+mj-ea"/>
                <a:ea typeface="+mj-ea"/>
              </a:rPr>
              <a:t>1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06212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341A1-9C4E-5848-C158-46159585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E1B3221-22D8-8F52-7D35-CB4B4E45A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04" y="835315"/>
            <a:ext cx="5974191" cy="4278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0A0485-EAE5-D1F8-681B-34D56AAF5F69}"/>
              </a:ext>
            </a:extLst>
          </p:cNvPr>
          <p:cNvSpPr txBox="1"/>
          <p:nvPr/>
        </p:nvSpPr>
        <p:spPr>
          <a:xfrm>
            <a:off x="167937" y="160520"/>
            <a:ext cx="124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그림 </a:t>
            </a:r>
            <a:r>
              <a:rPr lang="en-US" altLang="ko-KR" dirty="0">
                <a:latin typeface="+mj-ea"/>
                <a:ea typeface="+mj-ea"/>
              </a:rPr>
              <a:t>2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7192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F35D4-EF80-92D7-2592-10DF628CD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AF0509AB-BBD1-76B4-8F66-9FF5EBF1ABF7}"/>
              </a:ext>
            </a:extLst>
          </p:cNvPr>
          <p:cNvSpPr>
            <a:spLocks/>
          </p:cNvSpPr>
          <p:nvPr/>
        </p:nvSpPr>
        <p:spPr>
          <a:xfrm>
            <a:off x="1308188" y="4350703"/>
            <a:ext cx="4251534" cy="42908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최종 종목 선택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40172417-3AFD-1DBD-1501-54F38A147719}"/>
              </a:ext>
            </a:extLst>
          </p:cNvPr>
          <p:cNvGrpSpPr/>
          <p:nvPr/>
        </p:nvGrpSpPr>
        <p:grpSpPr>
          <a:xfrm>
            <a:off x="1311114" y="2060921"/>
            <a:ext cx="1926989" cy="610749"/>
            <a:chOff x="1305935" y="5333942"/>
            <a:chExt cx="1926989" cy="610749"/>
          </a:xfrm>
        </p:grpSpPr>
        <p:sp>
          <p:nvSpPr>
            <p:cNvPr id="211" name="직사각형 210">
              <a:extLst>
                <a:ext uri="{FF2B5EF4-FFF2-40B4-BE49-F238E27FC236}">
                  <a16:creationId xmlns:a16="http://schemas.microsoft.com/office/drawing/2014/main" id="{A02AC228-3BA4-8AD7-862C-FC5B5856C7CE}"/>
                </a:ext>
              </a:extLst>
            </p:cNvPr>
            <p:cNvSpPr/>
            <p:nvPr/>
          </p:nvSpPr>
          <p:spPr>
            <a:xfrm>
              <a:off x="1305936" y="5333943"/>
              <a:ext cx="1926988" cy="610748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E9F93606-D8CA-6EA8-74BC-5C7685CD56AB}"/>
                </a:ext>
              </a:extLst>
            </p:cNvPr>
            <p:cNvSpPr txBox="1">
              <a:spLocks/>
            </p:cNvSpPr>
            <p:nvPr/>
          </p:nvSpPr>
          <p:spPr>
            <a:xfrm>
              <a:off x="1305935" y="5333942"/>
              <a:ext cx="19269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LLM</a:t>
              </a:r>
              <a:r>
                <a:rPr lang="ko-KR" altLang="en-US" sz="1100" b="1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 기반 주가 등락 예측</a:t>
              </a:r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AE5AA0E6-1BF8-E49A-35ED-5DB0492902EC}"/>
                </a:ext>
              </a:extLst>
            </p:cNvPr>
            <p:cNvSpPr>
              <a:spLocks/>
            </p:cNvSpPr>
            <p:nvPr/>
          </p:nvSpPr>
          <p:spPr>
            <a:xfrm>
              <a:off x="1427930" y="5595552"/>
              <a:ext cx="1688400" cy="262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종목별 등락 예측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6B905480-4908-8F1D-71BC-79F4CC950EE0}"/>
              </a:ext>
            </a:extLst>
          </p:cNvPr>
          <p:cNvGrpSpPr/>
          <p:nvPr/>
        </p:nvGrpSpPr>
        <p:grpSpPr>
          <a:xfrm>
            <a:off x="3627777" y="2055828"/>
            <a:ext cx="1931946" cy="615842"/>
            <a:chOff x="3622598" y="5333942"/>
            <a:chExt cx="1931946" cy="615842"/>
          </a:xfrm>
        </p:grpSpPr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9E501AB8-9257-5F13-B1AC-0F134372B61F}"/>
                </a:ext>
              </a:extLst>
            </p:cNvPr>
            <p:cNvSpPr>
              <a:spLocks/>
            </p:cNvSpPr>
            <p:nvPr/>
          </p:nvSpPr>
          <p:spPr>
            <a:xfrm>
              <a:off x="3622598" y="5333942"/>
              <a:ext cx="1931946" cy="615842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2F5A4FE-D767-FFDB-B781-F233B8BDFA19}"/>
                </a:ext>
              </a:extLst>
            </p:cNvPr>
            <p:cNvSpPr>
              <a:spLocks/>
            </p:cNvSpPr>
            <p:nvPr/>
          </p:nvSpPr>
          <p:spPr>
            <a:xfrm>
              <a:off x="3744371" y="5595552"/>
              <a:ext cx="1688400" cy="262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종목 선택</a:t>
              </a:r>
              <a:endParaRPr lang="en-US" altLang="ko-KR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954EF3C-13B4-BEEC-2C2E-8004FD3FE56F}"/>
                </a:ext>
              </a:extLst>
            </p:cNvPr>
            <p:cNvSpPr txBox="1">
              <a:spLocks/>
            </p:cNvSpPr>
            <p:nvPr/>
          </p:nvSpPr>
          <p:spPr>
            <a:xfrm>
              <a:off x="3622599" y="5333942"/>
              <a:ext cx="19269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모델 예측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FBF9CD4-03AC-7612-E788-2CB60192482A}"/>
              </a:ext>
            </a:extLst>
          </p:cNvPr>
          <p:cNvSpPr>
            <a:spLocks/>
          </p:cNvSpPr>
          <p:nvPr/>
        </p:nvSpPr>
        <p:spPr>
          <a:xfrm>
            <a:off x="1308188" y="3647996"/>
            <a:ext cx="4251534" cy="42908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 err="1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임계값</a:t>
            </a:r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기준 종목 선별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0AA8AB-BF9C-D406-36FE-0A69D1857067}"/>
              </a:ext>
            </a:extLst>
          </p:cNvPr>
          <p:cNvSpPr>
            <a:spLocks/>
          </p:cNvSpPr>
          <p:nvPr/>
        </p:nvSpPr>
        <p:spPr>
          <a:xfrm>
            <a:off x="3630478" y="1171592"/>
            <a:ext cx="1926545" cy="61535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섹터 클러스터 예측 모델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68798124-89C6-64EC-4F43-753FEED5D163}"/>
              </a:ext>
            </a:extLst>
          </p:cNvPr>
          <p:cNvGrpSpPr/>
          <p:nvPr/>
        </p:nvGrpSpPr>
        <p:grpSpPr>
          <a:xfrm>
            <a:off x="1311112" y="1176554"/>
            <a:ext cx="1929691" cy="610748"/>
            <a:chOff x="1305933" y="4529354"/>
            <a:chExt cx="1929691" cy="610748"/>
          </a:xfrm>
        </p:grpSpPr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C9749BBD-0A8A-DF86-ED3E-9392042139EF}"/>
                </a:ext>
              </a:extLst>
            </p:cNvPr>
            <p:cNvSpPr>
              <a:spLocks/>
            </p:cNvSpPr>
            <p:nvPr/>
          </p:nvSpPr>
          <p:spPr>
            <a:xfrm>
              <a:off x="1308191" y="4529354"/>
              <a:ext cx="1927433" cy="610748"/>
            </a:xfrm>
            <a:prstGeom prst="rect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ko-KR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D0DFDD3-9D97-5BB8-11FB-1B1714344B0F}"/>
                </a:ext>
              </a:extLst>
            </p:cNvPr>
            <p:cNvSpPr txBox="1">
              <a:spLocks/>
            </p:cNvSpPr>
            <p:nvPr/>
          </p:nvSpPr>
          <p:spPr>
            <a:xfrm>
              <a:off x="1305933" y="4529355"/>
              <a:ext cx="192698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b="1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데이터셋 수집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4ADB6962-950F-C6DA-8140-9EF4D4C05212}"/>
                </a:ext>
              </a:extLst>
            </p:cNvPr>
            <p:cNvSpPr>
              <a:spLocks/>
            </p:cNvSpPr>
            <p:nvPr/>
          </p:nvSpPr>
          <p:spPr>
            <a:xfrm>
              <a:off x="2373282" y="4794754"/>
              <a:ext cx="743048" cy="2628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뉴스 기사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5FA3AF35-712C-0BB1-C1D8-AB5B91EF6676}"/>
                </a:ext>
              </a:extLst>
            </p:cNvPr>
            <p:cNvSpPr>
              <a:spLocks/>
            </p:cNvSpPr>
            <p:nvPr/>
          </p:nvSpPr>
          <p:spPr>
            <a:xfrm>
              <a:off x="1425228" y="4794754"/>
              <a:ext cx="743048" cy="2628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뉴스 영상</a:t>
              </a:r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980C95A-518E-D44E-A52A-E050FD084B4D}"/>
              </a:ext>
            </a:extLst>
          </p:cNvPr>
          <p:cNvSpPr>
            <a:spLocks/>
          </p:cNvSpPr>
          <p:nvPr/>
        </p:nvSpPr>
        <p:spPr>
          <a:xfrm>
            <a:off x="1303233" y="2945289"/>
            <a:ext cx="4251534" cy="42908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시계열 </a:t>
            </a:r>
            <a:r>
              <a:rPr lang="ko-KR" altLang="en-US" sz="1100" b="1" dirty="0" err="1"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가중합</a:t>
            </a:r>
            <a:endParaRPr lang="en-US" altLang="ko-KR" sz="1100" b="1" dirty="0">
              <a:solidFill>
                <a:schemeClr val="tx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cxnSp>
        <p:nvCxnSpPr>
          <p:cNvPr id="199" name="직선 화살표 연결선 198">
            <a:extLst>
              <a:ext uri="{FF2B5EF4-FFF2-40B4-BE49-F238E27FC236}">
                <a16:creationId xmlns:a16="http://schemas.microsoft.com/office/drawing/2014/main" id="{BD1A6BB4-F9B3-9CE8-8288-225997C4361A}"/>
              </a:ext>
            </a:extLst>
          </p:cNvPr>
          <p:cNvCxnSpPr>
            <a:stCxn id="212" idx="2"/>
            <a:endCxn id="213" idx="0"/>
          </p:cNvCxnSpPr>
          <p:nvPr/>
        </p:nvCxnSpPr>
        <p:spPr>
          <a:xfrm flipH="1">
            <a:off x="2274609" y="1787302"/>
            <a:ext cx="2478" cy="2736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CAE291DA-7A6E-BDF0-E9D7-EC53E56D461B}"/>
              </a:ext>
            </a:extLst>
          </p:cNvPr>
          <p:cNvCxnSpPr>
            <a:cxnSpLocks/>
            <a:stCxn id="18" idx="2"/>
            <a:endCxn id="15" idx="0"/>
          </p:cNvCxnSpPr>
          <p:nvPr/>
        </p:nvCxnSpPr>
        <p:spPr>
          <a:xfrm flipH="1">
            <a:off x="4591273" y="1786948"/>
            <a:ext cx="2478" cy="2688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6980FB92-BB03-FF24-7DB0-B25AF9ACE005}"/>
              </a:ext>
            </a:extLst>
          </p:cNvPr>
          <p:cNvCxnSpPr>
            <a:cxnSpLocks/>
            <a:stCxn id="44" idx="2"/>
            <a:endCxn id="16" idx="0"/>
          </p:cNvCxnSpPr>
          <p:nvPr/>
        </p:nvCxnSpPr>
        <p:spPr>
          <a:xfrm>
            <a:off x="3429000" y="3374377"/>
            <a:ext cx="4955" cy="2736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직선 화살표 연결선 208">
            <a:extLst>
              <a:ext uri="{FF2B5EF4-FFF2-40B4-BE49-F238E27FC236}">
                <a16:creationId xmlns:a16="http://schemas.microsoft.com/office/drawing/2014/main" id="{D0301921-A700-1B42-5FA2-EE2A08C90CAA}"/>
              </a:ext>
            </a:extLst>
          </p:cNvPr>
          <p:cNvCxnSpPr>
            <a:cxnSpLocks/>
            <a:stCxn id="16" idx="2"/>
            <a:endCxn id="243" idx="0"/>
          </p:cNvCxnSpPr>
          <p:nvPr/>
        </p:nvCxnSpPr>
        <p:spPr>
          <a:xfrm>
            <a:off x="3433955" y="4077084"/>
            <a:ext cx="0" cy="2736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연결선: 꺾임 218">
            <a:extLst>
              <a:ext uri="{FF2B5EF4-FFF2-40B4-BE49-F238E27FC236}">
                <a16:creationId xmlns:a16="http://schemas.microsoft.com/office/drawing/2014/main" id="{6F9044F2-CAC6-066A-CC89-E02491699153}"/>
              </a:ext>
            </a:extLst>
          </p:cNvPr>
          <p:cNvCxnSpPr>
            <a:cxnSpLocks/>
            <a:stCxn id="218" idx="2"/>
            <a:endCxn id="44" idx="0"/>
          </p:cNvCxnSpPr>
          <p:nvPr/>
        </p:nvCxnSpPr>
        <p:spPr>
          <a:xfrm rot="5400000">
            <a:off x="3874566" y="2226104"/>
            <a:ext cx="273619" cy="116475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연결선: 꺾임 221">
            <a:extLst>
              <a:ext uri="{FF2B5EF4-FFF2-40B4-BE49-F238E27FC236}">
                <a16:creationId xmlns:a16="http://schemas.microsoft.com/office/drawing/2014/main" id="{F5F2C2E8-ACFD-48B6-4E8B-CF3568B4A11C}"/>
              </a:ext>
            </a:extLst>
          </p:cNvPr>
          <p:cNvCxnSpPr>
            <a:cxnSpLocks/>
            <a:stCxn id="211" idx="2"/>
            <a:endCxn id="44" idx="0"/>
          </p:cNvCxnSpPr>
          <p:nvPr/>
        </p:nvCxnSpPr>
        <p:spPr>
          <a:xfrm rot="16200000" flipH="1">
            <a:off x="2714995" y="2231283"/>
            <a:ext cx="273619" cy="1154391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BCDE1167-EF54-8A07-61B9-88BAF1803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92" y="6690814"/>
            <a:ext cx="5327071" cy="51117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53BE7C-8377-790E-375E-8D9457033031}"/>
              </a:ext>
            </a:extLst>
          </p:cNvPr>
          <p:cNvSpPr txBox="1"/>
          <p:nvPr/>
        </p:nvSpPr>
        <p:spPr>
          <a:xfrm>
            <a:off x="167937" y="160520"/>
            <a:ext cx="124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그림 </a:t>
            </a:r>
            <a:r>
              <a:rPr lang="en-US" altLang="ko-KR" dirty="0">
                <a:latin typeface="+mj-ea"/>
                <a:ea typeface="+mj-ea"/>
              </a:rPr>
              <a:t>3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3215B1-EC4A-36AA-E4A5-0B8A24015135}"/>
              </a:ext>
            </a:extLst>
          </p:cNvPr>
          <p:cNvSpPr txBox="1"/>
          <p:nvPr/>
        </p:nvSpPr>
        <p:spPr>
          <a:xfrm>
            <a:off x="290600" y="5893464"/>
            <a:ext cx="124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그림 </a:t>
            </a:r>
            <a:r>
              <a:rPr lang="en-US" altLang="ko-KR" dirty="0">
                <a:latin typeface="+mj-ea"/>
                <a:ea typeface="+mj-ea"/>
              </a:rPr>
              <a:t>4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83884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BC85F-6177-42C2-A710-5E7414851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540E58FF-F7DF-F7B6-72FA-DB59A497B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1876"/>
            <a:ext cx="6858000" cy="16136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E6CDD3-B8A9-53B4-CF6B-871078CEFB6F}"/>
              </a:ext>
            </a:extLst>
          </p:cNvPr>
          <p:cNvSpPr txBox="1"/>
          <p:nvPr/>
        </p:nvSpPr>
        <p:spPr>
          <a:xfrm>
            <a:off x="4583906" y="5743275"/>
            <a:ext cx="677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+mn-ea"/>
              </a:rPr>
              <a:t>Phase 2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1EA327-7C11-5A1D-558B-838BD024E8A9}"/>
              </a:ext>
            </a:extLst>
          </p:cNvPr>
          <p:cNvSpPr txBox="1"/>
          <p:nvPr/>
        </p:nvSpPr>
        <p:spPr>
          <a:xfrm>
            <a:off x="5285169" y="5743275"/>
            <a:ext cx="677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+mn-ea"/>
              </a:rPr>
              <a:t>Phase 3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727DF5-5F63-A43F-27A0-08BC1D64D292}"/>
              </a:ext>
            </a:extLst>
          </p:cNvPr>
          <p:cNvSpPr txBox="1"/>
          <p:nvPr/>
        </p:nvSpPr>
        <p:spPr>
          <a:xfrm>
            <a:off x="5980536" y="5743275"/>
            <a:ext cx="677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+mn-ea"/>
              </a:rPr>
              <a:t>Phase 4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3" name="왼쪽 중괄호 12">
            <a:extLst>
              <a:ext uri="{FF2B5EF4-FFF2-40B4-BE49-F238E27FC236}">
                <a16:creationId xmlns:a16="http://schemas.microsoft.com/office/drawing/2014/main" id="{8C7924F0-2E64-F42C-EAEF-9ECA29DB4355}"/>
              </a:ext>
            </a:extLst>
          </p:cNvPr>
          <p:cNvSpPr/>
          <p:nvPr/>
        </p:nvSpPr>
        <p:spPr>
          <a:xfrm rot="5400000">
            <a:off x="5104768" y="3236985"/>
            <a:ext cx="333641" cy="2773159"/>
          </a:xfrm>
          <a:prstGeom prst="leftBrace">
            <a:avLst>
              <a:gd name="adj1" fmla="val 8333"/>
              <a:gd name="adj2" fmla="val 5000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84346D-E212-5458-07B9-B98082D203E5}"/>
              </a:ext>
            </a:extLst>
          </p:cNvPr>
          <p:cNvSpPr txBox="1"/>
          <p:nvPr/>
        </p:nvSpPr>
        <p:spPr>
          <a:xfrm>
            <a:off x="4584238" y="4292593"/>
            <a:ext cx="13717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+mn-ea"/>
              </a:rPr>
              <a:t>Test Periods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82A4928-B36D-B6A1-4BBD-B8C0D8EAF481}"/>
              </a:ext>
            </a:extLst>
          </p:cNvPr>
          <p:cNvSpPr/>
          <p:nvPr/>
        </p:nvSpPr>
        <p:spPr>
          <a:xfrm>
            <a:off x="4576656" y="4796016"/>
            <a:ext cx="690779" cy="116817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7008187-83F8-EB73-C5C0-6838EBEB79C5}"/>
              </a:ext>
            </a:extLst>
          </p:cNvPr>
          <p:cNvSpPr/>
          <p:nvPr/>
        </p:nvSpPr>
        <p:spPr>
          <a:xfrm>
            <a:off x="3885877" y="4795851"/>
            <a:ext cx="690779" cy="11683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D1A4B3D-BE95-D876-D1D3-65BC48B52C6A}"/>
              </a:ext>
            </a:extLst>
          </p:cNvPr>
          <p:cNvSpPr/>
          <p:nvPr/>
        </p:nvSpPr>
        <p:spPr>
          <a:xfrm>
            <a:off x="400210" y="4795850"/>
            <a:ext cx="3484800" cy="2016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Train</a:t>
            </a:r>
            <a:endParaRPr lang="ko-KR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6278DC-044F-A083-4843-8E596F419F26}"/>
              </a:ext>
            </a:extLst>
          </p:cNvPr>
          <p:cNvSpPr txBox="1"/>
          <p:nvPr/>
        </p:nvSpPr>
        <p:spPr>
          <a:xfrm>
            <a:off x="3891487" y="5743275"/>
            <a:ext cx="67763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latin typeface="+mn-ea"/>
              </a:rPr>
              <a:t>Phase 1</a:t>
            </a:r>
            <a:endParaRPr lang="ko-KR" altLang="en-US" sz="800" b="1" dirty="0">
              <a:latin typeface="+mn-ea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E217D97-EA60-BCA7-7D8B-31B7AD44F58E}"/>
              </a:ext>
            </a:extLst>
          </p:cNvPr>
          <p:cNvSpPr/>
          <p:nvPr/>
        </p:nvSpPr>
        <p:spPr>
          <a:xfrm>
            <a:off x="4576656" y="4795850"/>
            <a:ext cx="690779" cy="11683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D60C793-2CE8-1AAC-205A-51E31594AF41}"/>
              </a:ext>
            </a:extLst>
          </p:cNvPr>
          <p:cNvSpPr/>
          <p:nvPr/>
        </p:nvSpPr>
        <p:spPr>
          <a:xfrm>
            <a:off x="5272023" y="4795850"/>
            <a:ext cx="690779" cy="11683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BB374FD-38AF-D5C4-2534-06AC148C8692}"/>
              </a:ext>
            </a:extLst>
          </p:cNvPr>
          <p:cNvSpPr/>
          <p:nvPr/>
        </p:nvSpPr>
        <p:spPr>
          <a:xfrm>
            <a:off x="5967882" y="4795850"/>
            <a:ext cx="690779" cy="116833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36D4C3F-3B7F-BF46-64DF-94D7F5DE898E}"/>
              </a:ext>
            </a:extLst>
          </p:cNvPr>
          <p:cNvSpPr/>
          <p:nvPr/>
        </p:nvSpPr>
        <p:spPr>
          <a:xfrm>
            <a:off x="1090989" y="4997450"/>
            <a:ext cx="3484800" cy="2016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Train</a:t>
            </a:r>
            <a:endParaRPr lang="ko-KR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5A65C92-8D09-D346-DB47-2A0DAE326A7F}"/>
              </a:ext>
            </a:extLst>
          </p:cNvPr>
          <p:cNvSpPr/>
          <p:nvPr/>
        </p:nvSpPr>
        <p:spPr>
          <a:xfrm>
            <a:off x="1787223" y="5198884"/>
            <a:ext cx="3484800" cy="2016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Train</a:t>
            </a:r>
            <a:endParaRPr lang="ko-KR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CD0DE3D-4A80-46AC-1211-28E6FC340F32}"/>
              </a:ext>
            </a:extLst>
          </p:cNvPr>
          <p:cNvSpPr/>
          <p:nvPr/>
        </p:nvSpPr>
        <p:spPr>
          <a:xfrm>
            <a:off x="2488537" y="5400318"/>
            <a:ext cx="3474000" cy="2016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+mn-ea"/>
              </a:rPr>
              <a:t>Train</a:t>
            </a:r>
            <a:endParaRPr lang="ko-KR" altLang="en-US" sz="8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70F07E-71F4-94EB-FF0C-01607DAEEBCA}"/>
              </a:ext>
            </a:extLst>
          </p:cNvPr>
          <p:cNvSpPr txBox="1"/>
          <p:nvPr/>
        </p:nvSpPr>
        <p:spPr>
          <a:xfrm>
            <a:off x="167937" y="160520"/>
            <a:ext cx="124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그림 </a:t>
            </a:r>
            <a:r>
              <a:rPr lang="en-US" altLang="ko-KR" dirty="0">
                <a:latin typeface="+mj-ea"/>
                <a:ea typeface="+mj-ea"/>
              </a:rPr>
              <a:t>5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8851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2C29B-481B-E4E5-BB3E-0C53DE4B3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E71E9BE-B963-71D3-28D5-E97480A78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984" y="926946"/>
            <a:ext cx="4676356" cy="33402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2F1A2D5-6BEE-C858-DCBA-DE77A9F21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57" y="5102843"/>
            <a:ext cx="4720683" cy="295042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A04A3F-67E6-5270-66AD-EB3FEDD23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9631866"/>
            <a:ext cx="6858000" cy="2057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5E9877-1574-F791-43D5-6A8B269A4C8E}"/>
              </a:ext>
            </a:extLst>
          </p:cNvPr>
          <p:cNvSpPr txBox="1"/>
          <p:nvPr/>
        </p:nvSpPr>
        <p:spPr>
          <a:xfrm>
            <a:off x="167937" y="160520"/>
            <a:ext cx="124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그림 </a:t>
            </a:r>
            <a:r>
              <a:rPr lang="en-US" altLang="ko-KR" dirty="0">
                <a:latin typeface="+mj-ea"/>
                <a:ea typeface="+mj-ea"/>
              </a:rPr>
              <a:t>6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C64E1A-F192-625A-7390-E96687E076F7}"/>
              </a:ext>
            </a:extLst>
          </p:cNvPr>
          <p:cNvSpPr txBox="1"/>
          <p:nvPr/>
        </p:nvSpPr>
        <p:spPr>
          <a:xfrm>
            <a:off x="320337" y="4687166"/>
            <a:ext cx="124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그림 </a:t>
            </a:r>
            <a:r>
              <a:rPr lang="en-US" altLang="ko-KR" dirty="0">
                <a:latin typeface="+mj-ea"/>
                <a:ea typeface="+mj-ea"/>
              </a:rPr>
              <a:t>7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E16579-9866-8326-1312-2C1708E09C89}"/>
              </a:ext>
            </a:extLst>
          </p:cNvPr>
          <p:cNvSpPr txBox="1"/>
          <p:nvPr/>
        </p:nvSpPr>
        <p:spPr>
          <a:xfrm>
            <a:off x="167937" y="8842568"/>
            <a:ext cx="124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그림 </a:t>
            </a:r>
            <a:r>
              <a:rPr lang="en-US" altLang="ko-KR" dirty="0">
                <a:latin typeface="+mj-ea"/>
                <a:ea typeface="+mj-ea"/>
              </a:rPr>
              <a:t>8</a:t>
            </a:r>
            <a:endParaRPr lang="ko-KR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7758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1AC29-A3A2-2ACA-1266-40F90502A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9CBBD5E-FDE5-20F3-9771-9220F679C146}"/>
              </a:ext>
            </a:extLst>
          </p:cNvPr>
          <p:cNvSpPr txBox="1"/>
          <p:nvPr/>
        </p:nvSpPr>
        <p:spPr>
          <a:xfrm>
            <a:off x="167937" y="160520"/>
            <a:ext cx="124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그림 </a:t>
            </a:r>
            <a:r>
              <a:rPr lang="en-US" altLang="ko-KR" dirty="0">
                <a:latin typeface="+mj-ea"/>
                <a:ea typeface="+mj-ea"/>
              </a:rPr>
              <a:t>9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B009DE-D0C0-CB24-AAE1-D87C331BF9CD}"/>
              </a:ext>
            </a:extLst>
          </p:cNvPr>
          <p:cNvSpPr txBox="1"/>
          <p:nvPr/>
        </p:nvSpPr>
        <p:spPr>
          <a:xfrm>
            <a:off x="476454" y="6493663"/>
            <a:ext cx="1244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그림 </a:t>
            </a:r>
            <a:r>
              <a:rPr lang="en-US" altLang="ko-KR" dirty="0">
                <a:latin typeface="+mj-ea"/>
                <a:ea typeface="+mj-ea"/>
              </a:rPr>
              <a:t>10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5A08DE6-CC52-5058-4CF6-3570E44B0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112" y="825476"/>
            <a:ext cx="4677936" cy="350845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A787CA0-425C-683A-9EDC-E4CD968D8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54" y="7387604"/>
            <a:ext cx="6039575" cy="452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85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2028</TotalTime>
  <Words>152</Words>
  <Application>Microsoft Office PowerPoint</Application>
  <PresentationFormat>와이드스크린</PresentationFormat>
  <Paragraphs>67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나눔고딕</vt:lpstr>
      <vt:lpstr>나눔고딕 ExtraBold</vt:lpstr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Jonghyeok Lee</dc:creator>
  <cp:lastModifiedBy>Jonghyeok Lee</cp:lastModifiedBy>
  <cp:revision>82</cp:revision>
  <cp:lastPrinted>2025-07-18T08:51:52Z</cp:lastPrinted>
  <dcterms:created xsi:type="dcterms:W3CDTF">2025-04-28T05:17:05Z</dcterms:created>
  <dcterms:modified xsi:type="dcterms:W3CDTF">2025-07-18T18:33:16Z</dcterms:modified>
</cp:coreProperties>
</file>